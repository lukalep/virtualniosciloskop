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Dobar dan. Naš projekat je virtualni osciloskop — softversko rešenje razvijeno u LabVIEW-u koje, u sprezi sa akvizicionom karticom NI USB-5133, u realnom vremenu prikuplja, prikazuje i analizira električne signale. U narednih par minuta prolazimo kroz arhitekturu sistema, logiku okidanja i modul za obradu signala.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Ideja je bila da napravimo instrument koji ne zavisi od fiksne kutije sa dugmićima — sve što klasičan osciloskop radi hardverski, mi radimo softverski. Hardverski deo je kartica NI USB-5133, visokoperformantni digitalizator. Ona uzorkuje signal, a sve dalje — konfiguracija, okidanje, obrada i prikaz — odvija se u LabVIEW-u preko NI-SCOPE drajvera. Time dobijamo modularnost: dodavanje nove analize znači dodavanje jednog bloka, a ne novog uređaja.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Ovo je kičma celog programa. Sve počinje inicijalizacijom sesije. Zatim konfigurišemo vertikalnu osu — opseg, pomeraj i spregu kanala; pa horizontalnu — brzinu odabiranja i dužinu zapisa. Nakon toga se postavlja uslov okidanja, o čemu ćemo detaljnije. Srce sistema je While petlja u kojoj funkcija Fetch neprekidno preuzima sirove podatke iz hardverskog bafera. Kada korisnik pritisne Stop, poziva se Close, sesija se zatvara i resursi oslobađaju. Ova sekvenca je namerno stroga — bez nje uređaj ostaje zaključan.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Ovako izgleda kod. Namerno vam pokazujemo celinu, jer se u dataflow jeziku struktura vidi na prvi pogled. Levo je konfiguracija — svi ulazni parametri idu u NI-SCOPE blokove. U sredini je Case struktura za izbor tipa okidanja, najfleksibilniji deo koda. Desno je obrada — tu se podaci raspakuju, mere i transformišu. Sve prolazi kroz error wire, tako da se svaka greška propagira do kraja i prijavljuje korisniku.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Ovo je deo na koji smo najviše potrošili vremena. Case struktura omogućava korisniku da bira između pet režima okidanja. Edge je standard — okidamo kad signal pređe zadati naponski nivo. Immediate ne čeka ništa, korisno za brzo posmatranje. Hysteresis je unapređeni Edge: uvodi zonu neosetljivosti oko nivoa okidanja, pa šum ne izaziva lažna okidanja — signal mora da pređe širi opseg. Digital okida na promenu logičkog stanja, ne na analogni nivo. A Window okida kada signal uđe ili izađe iz definisanog opsega — idealno za detekciju anomalija i prekoračenja. Komponenta Trigger Modifier prilagođava parametre u zavisnosti od izabranog slučaja, tako da korisnik ne mora ništa da prekonfiguriše ručno.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Ono sto Fetch vrati nije spreman signal - to je struktura. Pomocu Index Array biramo kanal, a Unbundle by Name je raspakuje na tri kljucna atributa: pocetni trenutak, vremenski korak između uzoraka i sam niz naponskih vrednosti. Tek sada podaci imaju smisao. Niz vodimo u modul Amplitude and Level Measurements, koji automatski izdvaja high i low nivo. Prostim oduzimanjem - high minus low - dobijamo peak-to-peak vrednost. Isti niz paralelno ide u FFT, koji signal razlaze na sinusne komponente, i u PSD, koji pokazuje kako je snaga signala rasporedjena po frekvencijama - sto je kljucno za analizu suma.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Ovo je sistem u radu. Ulazni signal je kvadratni, brzina odabiranja deset megasempla u sekundi, dužina zapisa hiljadu uzoraka. Prikaz je potpuno stabilan zahvaljujući Edge okidanju. Sa leve strane korisnik u realnom vremenu menja sve parametre — vertikalni opseg, spregu, tip okidanja, nivo okidanja. U centru se automatski prikazuju izmerene vrednosti: peak-to-peak je 6.26 volti, amplituda 6.27. Desno su rezultati FFT analize i procena spektralne gustine snage. Sve to na jednom ekranu, bez ijednog fizičkog dugmeta.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zakljucimo. Napravili smo funkcionalan virtualni osciloskop koji pokriva ceo lanac - od akvizicije sa hardvera, preko stabilnog prikaza, do automatskih merenja i frekvencijske analize. Pet rezima okidanja daje sistemu fleksibilnost koju fiksni instrument nema. A zbog modularne prirode LabVIEW-a, dodavanje novih funkcija - recimo filtriranja ili merenja THD-a - svodi se na prosirenje postojece grane koda. Hvala na pažnji, spremni smo za pitanja.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1783980113304_Captu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5669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3171C">
              <a:alpha val="8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VIRTUALNI OSCILOSKOP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868680" y="31546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EE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LabVIEW  ·  NI USB-5133  ·  NI-SCOPE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68680" y="3794760"/>
            <a:ext cx="1280160" cy="27432"/>
          </a:xfrm>
          <a:prstGeom prst="rect">
            <a:avLst/>
          </a:prstGeom>
          <a:solidFill>
            <a:srgbClr val="4A5560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Upravljački algoritmi u realnom vremenu — Projekat 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4572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Lazar Jakšić   ·   Boris Gavranić   ·   Luka Lepojević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Cilj i arhitektura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155680" y="320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6D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Cilj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Fleksibilan merni instrument koji softverski replicira funkcionalnost klasičnog osciloskopa.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Hardver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USB-5133 — visokoperformantni digitalizator, 10 MS/s.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Softver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LabVIEW — grafički dataflow, modularni dizajn.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Sprega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NI-SCOPE drajveri — akvizicija, uzorkovanje i okidanje.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35040" y="150876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1E252E"/>
          </a:solidFill>
          <a:ln/>
        </p:spPr>
      </p:sp>
      <p:sp>
        <p:nvSpPr>
          <p:cNvPr id="6" name="Text 4"/>
          <p:cNvSpPr/>
          <p:nvPr/>
        </p:nvSpPr>
        <p:spPr>
          <a:xfrm>
            <a:off x="6263640" y="16184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IZVOR SIGNALA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1965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analogni ulaz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278892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1E252E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28986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USB-5133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63640" y="3246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digitalizacija · 10 MS/s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406908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2EE86B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41788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LabVIEW  /  NI-SCOPE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63640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konfiguracija · akvizicija · okidanje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23960" y="2377440"/>
            <a:ext cx="0" cy="411480"/>
          </a:xfrm>
          <a:prstGeom prst="line">
            <a:avLst/>
          </a:prstGeom>
          <a:noFill/>
          <a:ln w="25400">
            <a:solidFill>
              <a:srgbClr val="4A556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823960" y="3657600"/>
            <a:ext cx="0" cy="411480"/>
          </a:xfrm>
          <a:prstGeom prst="line">
            <a:avLst/>
          </a:prstGeom>
          <a:noFill/>
          <a:ln w="25400">
            <a:solidFill>
              <a:srgbClr val="4A556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35040" y="534924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7CE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5440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Prikaz talasnog oblika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0" y="534924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7CE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5440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Merenja · FFT · PSD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60920" y="4937760"/>
            <a:ext cx="0" cy="365760"/>
          </a:xfrm>
          <a:prstGeom prst="line">
            <a:avLst/>
          </a:prstGeom>
          <a:noFill/>
          <a:ln w="25400">
            <a:solidFill>
              <a:srgbClr val="4A556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287000" y="4937760"/>
            <a:ext cx="0" cy="365760"/>
          </a:xfrm>
          <a:prstGeom prst="line">
            <a:avLst/>
          </a:prstGeom>
          <a:noFill/>
          <a:ln w="25400">
            <a:solidFill>
              <a:srgbClr val="4A556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 programa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155680" y="320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6D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Stroga sekvenca NI-SCOPE poziva — bez nje uređaj ostaje zaključan.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3D9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86000"/>
            <a:ext cx="384048" cy="384048"/>
          </a:xfrm>
          <a:prstGeom prst="ellipse">
            <a:avLst/>
          </a:prstGeom>
          <a:solidFill>
            <a:srgbClr val="13171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2257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816352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3346704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otvaranje sesije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58568" y="2971800"/>
            <a:ext cx="137160" cy="0"/>
          </a:xfrm>
          <a:prstGeom prst="line">
            <a:avLst/>
          </a:prstGeom>
          <a:noFill/>
          <a:ln w="25400">
            <a:solidFill>
              <a:srgbClr val="B8C0C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14016" y="210312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3D9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96896" y="2286000"/>
            <a:ext cx="384048" cy="384048"/>
          </a:xfrm>
          <a:prstGeom prst="ellipse">
            <a:avLst/>
          </a:prstGeom>
          <a:solidFill>
            <a:srgbClr val="13171C"/>
          </a:solidFill>
          <a:ln/>
        </p:spPr>
      </p:sp>
      <p:sp>
        <p:nvSpPr>
          <p:cNvPr id="13" name="Text 11"/>
          <p:cNvSpPr/>
          <p:nvPr/>
        </p:nvSpPr>
        <p:spPr>
          <a:xfrm>
            <a:off x="2596896" y="232257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78608" y="2816352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Vertical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78608" y="3346704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opseg · offset · sprega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23944" y="2971800"/>
            <a:ext cx="137160" cy="0"/>
          </a:xfrm>
          <a:prstGeom prst="line">
            <a:avLst/>
          </a:prstGeom>
          <a:noFill/>
          <a:ln w="25400">
            <a:solidFill>
              <a:srgbClr val="B8C0C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79392" y="210312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3D9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62272" y="2286000"/>
            <a:ext cx="384048" cy="384048"/>
          </a:xfrm>
          <a:prstGeom prst="ellipse">
            <a:avLst/>
          </a:prstGeom>
          <a:solidFill>
            <a:srgbClr val="13171C"/>
          </a:solidFill>
          <a:ln/>
        </p:spPr>
      </p:sp>
      <p:sp>
        <p:nvSpPr>
          <p:cNvPr id="19" name="Text 17"/>
          <p:cNvSpPr/>
          <p:nvPr/>
        </p:nvSpPr>
        <p:spPr>
          <a:xfrm>
            <a:off x="4462272" y="232257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43984" y="2816352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Horizontal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43984" y="3346704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 · record length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89320" y="2971800"/>
            <a:ext cx="137160" cy="0"/>
          </a:xfrm>
          <a:prstGeom prst="line">
            <a:avLst/>
          </a:prstGeom>
          <a:noFill/>
          <a:ln w="25400">
            <a:solidFill>
              <a:srgbClr val="B8C0C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44768" y="210312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3D9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2286000"/>
            <a:ext cx="384048" cy="384048"/>
          </a:xfrm>
          <a:prstGeom prst="ellipse">
            <a:avLst/>
          </a:prstGeom>
          <a:solidFill>
            <a:srgbClr val="13171C"/>
          </a:solidFill>
          <a:ln/>
        </p:spPr>
      </p:sp>
      <p:sp>
        <p:nvSpPr>
          <p:cNvPr id="25" name="Text 23"/>
          <p:cNvSpPr/>
          <p:nvPr/>
        </p:nvSpPr>
        <p:spPr>
          <a:xfrm>
            <a:off x="6327648" y="232257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2816352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Trigger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3346704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uslov okidanja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854696" y="2971800"/>
            <a:ext cx="137160" cy="0"/>
          </a:xfrm>
          <a:prstGeom prst="line">
            <a:avLst/>
          </a:prstGeom>
          <a:noFill/>
          <a:ln w="25400">
            <a:solidFill>
              <a:srgbClr val="B8C0C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10144" y="210312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13171C"/>
          </a:solidFill>
          <a:ln w="12700">
            <a:solidFill>
              <a:srgbClr val="1317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93024" y="2286000"/>
            <a:ext cx="384048" cy="384048"/>
          </a:xfrm>
          <a:prstGeom prst="ellipse">
            <a:avLst/>
          </a:prstGeom>
          <a:solidFill>
            <a:srgbClr val="2EE86B"/>
          </a:solidFill>
          <a:ln/>
        </p:spPr>
      </p:sp>
      <p:sp>
        <p:nvSpPr>
          <p:cNvPr id="31" name="Text 29"/>
          <p:cNvSpPr/>
          <p:nvPr/>
        </p:nvSpPr>
        <p:spPr>
          <a:xfrm>
            <a:off x="8193024" y="232257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74736" y="2816352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74736" y="3346704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preuzimanje iz bafera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720072" y="2971800"/>
            <a:ext cx="137160" cy="0"/>
          </a:xfrm>
          <a:prstGeom prst="line">
            <a:avLst/>
          </a:prstGeom>
          <a:noFill/>
          <a:ln w="25400">
            <a:solidFill>
              <a:srgbClr val="B8C0C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875520" y="210312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3D9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58400" y="2286000"/>
            <a:ext cx="384048" cy="384048"/>
          </a:xfrm>
          <a:prstGeom prst="ellipse">
            <a:avLst/>
          </a:prstGeom>
          <a:solidFill>
            <a:srgbClr val="13171C"/>
          </a:solidFill>
          <a:ln/>
        </p:spPr>
      </p:sp>
      <p:sp>
        <p:nvSpPr>
          <p:cNvPr id="37" name="Text 35"/>
          <p:cNvSpPr/>
          <p:nvPr/>
        </p:nvSpPr>
        <p:spPr>
          <a:xfrm>
            <a:off x="10058400" y="232257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040112" y="2816352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040112" y="3346704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oslobađanje resursa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918704" y="1901952"/>
            <a:ext cx="1874520" cy="2139696"/>
          </a:xfrm>
          <a:prstGeom prst="roundRect">
            <a:avLst>
              <a:gd name="adj" fmla="val 2927"/>
            </a:avLst>
          </a:prstGeom>
          <a:ln w="25400">
            <a:solidFill>
              <a:srgbClr val="2EE86B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7918704" y="40782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9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petlja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252E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50292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</a:t>
            </a:r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neprekidno preuzima sirove podatke iz hardverskog bafera dok korisnik ne pritisne Stop. Tada se poziva </a:t>
            </a:r>
            <a:pPr indent="0" marL="0">
              <a:buNone/>
            </a:pPr>
            <a:r>
              <a:rPr lang="en-US" sz="1500" b="1" dirty="0">
                <a:solidFill>
                  <a:srgbClr val="2EE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sesija se bezbedno zatvara, resursi oslobađaju.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Diagram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2C3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11338560" cy="4343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img/1783980099328_blockdiagr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11155680" cy="41696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417320" y="5029200"/>
            <a:ext cx="402336" cy="402336"/>
          </a:xfrm>
          <a:prstGeom prst="ellipse">
            <a:avLst/>
          </a:prstGeom>
          <a:solidFill>
            <a:srgbClr val="E8B9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17320" y="5065776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74920" y="5029200"/>
            <a:ext cx="402336" cy="402336"/>
          </a:xfrm>
          <a:prstGeom prst="ellipse">
            <a:avLst/>
          </a:prstGeom>
          <a:solidFill>
            <a:srgbClr val="E862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74920" y="5065776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418320" y="5029200"/>
            <a:ext cx="402336" cy="402336"/>
          </a:xfrm>
          <a:prstGeom prst="ellipse">
            <a:avLst/>
          </a:prstGeom>
          <a:solidFill>
            <a:srgbClr val="2EE8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0" y="5065776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5870448"/>
            <a:ext cx="329184" cy="329184"/>
          </a:xfrm>
          <a:prstGeom prst="ellipse">
            <a:avLst/>
          </a:prstGeom>
          <a:solidFill>
            <a:srgbClr val="E8B92E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58978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58887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Konfiguracija hardvera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89120" y="5870448"/>
            <a:ext cx="329184" cy="329184"/>
          </a:xfrm>
          <a:prstGeom prst="ellipse">
            <a:avLst/>
          </a:prstGeom>
          <a:solidFill>
            <a:srgbClr val="E8622E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58978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46320" y="58887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struktura — izbor okidanja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229600" y="5870448"/>
            <a:ext cx="329184" cy="329184"/>
          </a:xfrm>
          <a:prstGeom prst="ellipse">
            <a:avLst/>
          </a:prstGeom>
          <a:solidFill>
            <a:srgbClr val="2EE8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58978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86800" y="58887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Obrada signala i vizuelizacija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Logika okidanja — 5 režima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155680" y="320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6D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struktura: korisnik bira režim, Trigger Modifier dinamički prilagođava parametre.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194560" cy="4480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3D9DF"/>
            </a:solidFill>
            <a:prstDash val="solid"/>
          </a:ln>
        </p:spPr>
      </p:sp>
      <p:pic>
        <p:nvPicPr>
          <p:cNvPr id="6" name="Image 0" descr="img/1783980149600_Ed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728216"/>
            <a:ext cx="1938528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386791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4944" y="4233672"/>
            <a:ext cx="457200" cy="32004"/>
          </a:xfrm>
          <a:prstGeom prst="rect">
            <a:avLst/>
          </a:prstGeom>
          <a:solidFill>
            <a:srgbClr val="2EE86B"/>
          </a:solidFill>
          <a:ln/>
        </p:spPr>
      </p:sp>
      <p:sp>
        <p:nvSpPr>
          <p:cNvPr id="9" name="Text 6"/>
          <p:cNvSpPr/>
          <p:nvPr/>
        </p:nvSpPr>
        <p:spPr>
          <a:xfrm>
            <a:off x="694944" y="4389120"/>
            <a:ext cx="19019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Okidanje na prelazak preko zadatog naponskog nivoa — rising ili falling.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871216" y="1600200"/>
            <a:ext cx="2194560" cy="4480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3D9DF"/>
            </a:solidFill>
            <a:prstDash val="solid"/>
          </a:ln>
        </p:spPr>
      </p:sp>
      <p:pic>
        <p:nvPicPr>
          <p:cNvPr id="11" name="Image 1" descr="img/1783980170050_Immediat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99232" y="1728216"/>
            <a:ext cx="1938528" cy="20116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17520" y="386791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3017520" y="4233672"/>
            <a:ext cx="457200" cy="32004"/>
          </a:xfrm>
          <a:prstGeom prst="rect">
            <a:avLst/>
          </a:prstGeom>
          <a:solidFill>
            <a:srgbClr val="2EE86B"/>
          </a:solidFill>
          <a:ln/>
        </p:spPr>
      </p:sp>
      <p:sp>
        <p:nvSpPr>
          <p:cNvPr id="14" name="Text 10"/>
          <p:cNvSpPr/>
          <p:nvPr/>
        </p:nvSpPr>
        <p:spPr>
          <a:xfrm>
            <a:off x="3017520" y="4389120"/>
            <a:ext cx="19019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Akvizicija se pokreće odmah, bez čekanja na uslov ulaznog signala.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193792" y="1600200"/>
            <a:ext cx="2194560" cy="4480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3D9DF"/>
            </a:solidFill>
            <a:prstDash val="solid"/>
          </a:ln>
        </p:spPr>
      </p:sp>
      <p:pic>
        <p:nvPicPr>
          <p:cNvPr id="16" name="Image 2" descr="img/1783980158851_Hysteresi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21808" y="1728216"/>
            <a:ext cx="1938528" cy="20116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0096" y="386791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340096" y="4233672"/>
            <a:ext cx="457200" cy="32004"/>
          </a:xfrm>
          <a:prstGeom prst="rect">
            <a:avLst/>
          </a:prstGeom>
          <a:solidFill>
            <a:srgbClr val="2EE86B"/>
          </a:solidFill>
          <a:ln/>
        </p:spPr>
      </p:sp>
      <p:sp>
        <p:nvSpPr>
          <p:cNvPr id="19" name="Text 14"/>
          <p:cNvSpPr/>
          <p:nvPr/>
        </p:nvSpPr>
        <p:spPr>
          <a:xfrm>
            <a:off x="5340096" y="4389120"/>
            <a:ext cx="19019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neosetljivosti oko nivoa okidanja — sprečava lažna okidanja od šuma.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516368" y="1600200"/>
            <a:ext cx="2194560" cy="4480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3D9DF"/>
            </a:solidFill>
            <a:prstDash val="solid"/>
          </a:ln>
        </p:spPr>
      </p:sp>
      <p:pic>
        <p:nvPicPr>
          <p:cNvPr id="21" name="Image 3" descr="img/1783980127741_Digital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44384" y="1728216"/>
            <a:ext cx="1938528" cy="20116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62672" y="386791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7662672" y="4233672"/>
            <a:ext cx="457200" cy="32004"/>
          </a:xfrm>
          <a:prstGeom prst="rect">
            <a:avLst/>
          </a:prstGeom>
          <a:solidFill>
            <a:srgbClr val="2EE86B"/>
          </a:solidFill>
          <a:ln/>
        </p:spPr>
      </p:sp>
      <p:sp>
        <p:nvSpPr>
          <p:cNvPr id="24" name="Text 18"/>
          <p:cNvSpPr/>
          <p:nvPr/>
        </p:nvSpPr>
        <p:spPr>
          <a:xfrm>
            <a:off x="7662672" y="4389120"/>
            <a:ext cx="19019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Okidanje na promenu logičkog stanja eksternog digitalnog signala.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9838944" y="1600200"/>
            <a:ext cx="2194560" cy="4480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3D9DF"/>
            </a:solidFill>
            <a:prstDash val="solid"/>
          </a:ln>
        </p:spPr>
      </p:sp>
      <p:pic>
        <p:nvPicPr>
          <p:cNvPr id="26" name="Image 4" descr="img/1783980191617_Window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966960" y="1728216"/>
            <a:ext cx="1938528" cy="20116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985248" y="386791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9985248" y="4233672"/>
            <a:ext cx="457200" cy="32004"/>
          </a:xfrm>
          <a:prstGeom prst="rect">
            <a:avLst/>
          </a:prstGeom>
          <a:solidFill>
            <a:srgbClr val="2EE86B"/>
          </a:solidFill>
          <a:ln/>
        </p:spPr>
      </p:sp>
      <p:sp>
        <p:nvSpPr>
          <p:cNvPr id="29" name="Text 22"/>
          <p:cNvSpPr/>
          <p:nvPr/>
        </p:nvSpPr>
        <p:spPr>
          <a:xfrm>
            <a:off x="9985248" y="4389120"/>
            <a:ext cx="19019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Okidanje na ulaz ili izlaz signala iz definisanog naponskog prozora.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 sirovih podataka do merenja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155680" y="320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6D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Raspakivanje waveform-a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3D9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Array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0299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izbor kanala iz niza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3D9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60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Unbundle by Name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8529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pristup atributima waveform-a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5394960" cy="1508760"/>
          </a:xfrm>
          <a:prstGeom prst="roundRect">
            <a:avLst>
              <a:gd name="adj" fmla="val 3636"/>
            </a:avLst>
          </a:prstGeom>
          <a:solidFill>
            <a:srgbClr val="1E252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20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relativeInitialX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3520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početni trenutak akvizicije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931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xIncrement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3931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vremenski korak između uzoraka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4343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80360" y="4343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niz naponskih vrednosti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074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raspakovani, podaci imaju smisao — i tek tada idu u analizu.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508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Obrada signala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355080" y="169164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3D9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1865376"/>
            <a:ext cx="292608" cy="292608"/>
          </a:xfrm>
          <a:prstGeom prst="ellipse">
            <a:avLst/>
          </a:prstGeom>
          <a:solidFill>
            <a:srgbClr val="2EE86B"/>
          </a:solidFill>
          <a:ln/>
        </p:spPr>
      </p:sp>
      <p:sp>
        <p:nvSpPr>
          <p:cNvPr id="22" name="Text 20"/>
          <p:cNvSpPr/>
          <p:nvPr/>
        </p:nvSpPr>
        <p:spPr>
          <a:xfrm>
            <a:off x="6967728" y="17282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&amp; Level Measurements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67728" y="2011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izdvaja high i low nivo, amplitudu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2478024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3D9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2651760"/>
            <a:ext cx="292608" cy="292608"/>
          </a:xfrm>
          <a:prstGeom prst="ellipse">
            <a:avLst/>
          </a:prstGeom>
          <a:solidFill>
            <a:srgbClr val="2EE86B"/>
          </a:solidFill>
          <a:ln/>
        </p:spPr>
      </p:sp>
      <p:sp>
        <p:nvSpPr>
          <p:cNvPr id="26" name="Text 24"/>
          <p:cNvSpPr/>
          <p:nvPr/>
        </p:nvSpPr>
        <p:spPr>
          <a:xfrm>
            <a:off x="6967728" y="25146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 (High − Low)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67728" y="27980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peak-to-peak vrednost signala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3264408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3D9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3438144"/>
            <a:ext cx="292608" cy="292608"/>
          </a:xfrm>
          <a:prstGeom prst="ellipse">
            <a:avLst/>
          </a:prstGeom>
          <a:solidFill>
            <a:srgbClr val="2EE86B"/>
          </a:solidFill>
          <a:ln/>
        </p:spPr>
      </p:sp>
      <p:sp>
        <p:nvSpPr>
          <p:cNvPr id="30" name="Text 28"/>
          <p:cNvSpPr/>
          <p:nvPr/>
        </p:nvSpPr>
        <p:spPr>
          <a:xfrm>
            <a:off x="6967728" y="33009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967728" y="35844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razlaganje na sinusne komponente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4050792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3D9D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4224528"/>
            <a:ext cx="292608" cy="292608"/>
          </a:xfrm>
          <a:prstGeom prst="ellipse">
            <a:avLst/>
          </a:prstGeom>
          <a:solidFill>
            <a:srgbClr val="2EE86B"/>
          </a:solidFill>
          <a:ln/>
        </p:spPr>
      </p:sp>
      <p:sp>
        <p:nvSpPr>
          <p:cNvPr id="34" name="Text 32"/>
          <p:cNvSpPr/>
          <p:nvPr/>
        </p:nvSpPr>
        <p:spPr>
          <a:xfrm>
            <a:off x="6967728" y="40873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967728" y="43708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raspodela snage po frekvencijama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55080" y="493776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13171C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50749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E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6.26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6446520" y="550468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Vpp (V)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744968" y="50749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E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2.90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7744968" y="550468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(V)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043416" y="50749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E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-3.36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9043416" y="550468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(V)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341864" y="50749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E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6.27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10341864" y="550468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Amplituda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u radu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2C3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11338560" cy="4023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img/1783980113304_Captu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1115568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406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1E252E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55504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E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MS/s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13232" y="59618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brzina odabiranja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01568" y="54406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1E252E"/>
          </a:solidFill>
          <a:ln/>
        </p:spPr>
      </p:sp>
      <p:sp>
        <p:nvSpPr>
          <p:cNvPr id="10" name="Text 7"/>
          <p:cNvSpPr/>
          <p:nvPr/>
        </p:nvSpPr>
        <p:spPr>
          <a:xfrm>
            <a:off x="3566160" y="55504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E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566160" y="59618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dužina zapisa (uzoraka)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54496" y="54406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1E252E"/>
          </a:solidFill>
          <a:ln/>
        </p:spPr>
      </p:sp>
      <p:sp>
        <p:nvSpPr>
          <p:cNvPr id="13" name="Text 10"/>
          <p:cNvSpPr/>
          <p:nvPr/>
        </p:nvSpPr>
        <p:spPr>
          <a:xfrm>
            <a:off x="6419088" y="55504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E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6.26 V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419088" y="59618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izmereni Vpp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107424" y="54406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1E252E"/>
          </a:solidFill>
          <a:ln/>
        </p:spPr>
      </p:sp>
      <p:sp>
        <p:nvSpPr>
          <p:cNvPr id="16" name="Text 13"/>
          <p:cNvSpPr/>
          <p:nvPr/>
        </p:nvSpPr>
        <p:spPr>
          <a:xfrm>
            <a:off x="9272016" y="55504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E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9272016" y="59618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aktivni režim okidanja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Zaključak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3232" y="1865376"/>
            <a:ext cx="146304" cy="146304"/>
          </a:xfrm>
          <a:prstGeom prst="ellipse">
            <a:avLst/>
          </a:prstGeom>
          <a:solidFill>
            <a:srgbClr val="2EE86B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178308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Funkcionalan osciloskop — akvizicija, prikaz, merenje i analiza u jednom lancu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2523744"/>
            <a:ext cx="146304" cy="146304"/>
          </a:xfrm>
          <a:prstGeom prst="ellipse">
            <a:avLst/>
          </a:prstGeom>
          <a:solidFill>
            <a:srgbClr val="2EE86B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44144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režima okidanja — prilagodljivost različitim tipovima signala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182112"/>
            <a:ext cx="146304" cy="146304"/>
          </a:xfrm>
          <a:prstGeom prst="ellipse">
            <a:avLst/>
          </a:prstGeom>
          <a:solidFill>
            <a:srgbClr val="2EE86B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09981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Automatska merenja (Vpp, High, Low) i frekvencijska analiza (FFT, PSD)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3232" y="3840480"/>
            <a:ext cx="146304" cy="146304"/>
          </a:xfrm>
          <a:prstGeom prst="ellipse">
            <a:avLst/>
          </a:prstGeom>
          <a:solidFill>
            <a:srgbClr val="2EE86B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75818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Modularan dizajn — nadogradnja se svodi na proširenje grane koda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4498848"/>
            <a:ext cx="146304" cy="146304"/>
          </a:xfrm>
          <a:prstGeom prst="ellipse">
            <a:avLst/>
          </a:prstGeom>
          <a:solidFill>
            <a:srgbClr val="2EE86B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41655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Bezbedno upravljanje sesijom i propagacija grešaka do korisnika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35240" y="1737360"/>
            <a:ext cx="3977640" cy="23317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0" descr="img/1783980113304_Captu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99248" y="1801368"/>
            <a:ext cx="3849624" cy="220370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635240" y="41605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Panel — sistem u radu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635240" y="470916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2EE86B"/>
          </a:solidFill>
          <a:ln/>
        </p:spPr>
      </p:sp>
      <p:sp>
        <p:nvSpPr>
          <p:cNvPr id="17" name="Text 14"/>
          <p:cNvSpPr/>
          <p:nvPr/>
        </p:nvSpPr>
        <p:spPr>
          <a:xfrm>
            <a:off x="7818120" y="48920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Hvala na pažnji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818120" y="53492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Pitanja?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Virtualni osciloskop</dc:title>
  <dc:subject>PptxGenJS Presentation</dc:subject>
  <dc:creator>Lazar Jakšić, Boris Gavranić, Luka Lepojević</dc:creator>
  <cp:lastModifiedBy>Lazar Jakšić, Boris Gavranić, Luka Lepojević</cp:lastModifiedBy>
  <cp:revision>1</cp:revision>
  <dcterms:created xsi:type="dcterms:W3CDTF">2026-07-14T01:53:03Z</dcterms:created>
  <dcterms:modified xsi:type="dcterms:W3CDTF">2026-07-14T01:53:03Z</dcterms:modified>
</cp:coreProperties>
</file>